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40" y="-594360"/>
            <a:ext cx="2834640" cy="2834640"/>
          </a:xfrm>
          <a:prstGeom prst="ellipse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77240" y="5303520"/>
            <a:ext cx="2286000" cy="2286000"/>
          </a:xfrm>
          <a:prstGeom prst="ellipse">
            <a:avLst/>
          </a:prstGeom>
          <a:solidFill>
            <a:srgbClr val="E8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5394960"/>
            <a:ext cx="1828800" cy="1828800"/>
          </a:xfrm>
          <a:prstGeom prst="ellipse">
            <a:avLst/>
          </a:prstGeom>
          <a:solidFill>
            <a:srgbClr val="D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429768"/>
            <a:ext cx="91440" cy="640080"/>
          </a:xfrm>
          <a:prstGeom prst="roundRect">
            <a:avLst/>
          </a:prstGeom>
          <a:solidFill>
            <a:srgbClr val="5A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47472"/>
            <a:ext cx="4572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7233C"/>
                </a:solidFill>
                <a:latin typeface="Aptos"/>
              </a:rPr>
              <a:t>CÁCH THỰC HIỆN</a:t>
            </a:r>
            <a:endParaRPr sz="2500" b="1">
              <a:solidFill>
                <a:srgbClr val="17233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5256" y="80467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1809D"/>
                </a:solidFill>
                <a:latin typeface="Aptos"/>
              </a:rPr>
              <a:t>Quy trình xây dựng hệ thống AI Web</a:t>
            </a:r>
            <a:endParaRPr sz="1100" b="0">
              <a:solidFill>
                <a:srgbClr val="71809D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646920" y="475488"/>
            <a:ext cx="1874519" cy="38404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484632"/>
            <a:ext cx="187451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664E8"/>
                </a:solidFill>
                <a:latin typeface="Aptos"/>
              </a:rPr>
              <a:t>AI WEB PROJECT</a:t>
            </a:r>
            <a:endParaRPr sz="900" b="1">
              <a:solidFill>
                <a:srgbClr val="5664E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0372" y="1344168"/>
            <a:ext cx="2578608" cy="1069848"/>
          </a:xfrm>
          <a:prstGeom prst="roundRect">
            <a:avLst/>
          </a:prstGeom>
          <a:solidFill>
            <a:srgbClr val="DD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298448"/>
            <a:ext cx="257860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1481328"/>
            <a:ext cx="438912" cy="438912"/>
          </a:xfrm>
          <a:prstGeom prst="ellipse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48132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967E8"/>
                </a:solidFill>
                <a:latin typeface="Aptos"/>
              </a:rPr>
              <a:t>01</a:t>
            </a:r>
            <a:endParaRPr sz="1000" b="1">
              <a:solidFill>
                <a:srgbClr val="5967E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80744" y="1453895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7233C"/>
                </a:solidFill>
                <a:latin typeface="Aptos"/>
              </a:rPr>
              <a:t>Xây dựng AI</a:t>
            </a:r>
            <a:endParaRPr sz="1200" b="1">
              <a:solidFill>
                <a:srgbClr val="17233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80744" y="1746504"/>
            <a:ext cx="16642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70" b="0">
                <a:solidFill>
                  <a:srgbClr val="71809D"/>
                </a:solidFill>
                <a:latin typeface="Aptos"/>
              </a:rPr>
              <a:t>Classification
Detection • Retrieval • RAG</a:t>
            </a:r>
            <a:endParaRPr sz="870" b="0">
              <a:solidFill>
                <a:srgbClr val="71809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64408" y="1636776"/>
            <a:ext cx="155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5BED0"/>
                </a:solidFill>
                <a:latin typeface="Aptos"/>
              </a:rPr>
              <a:t>›</a:t>
            </a:r>
            <a:endParaRPr sz="2000" b="1">
              <a:solidFill>
                <a:srgbClr val="B5BED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70148" y="1344168"/>
            <a:ext cx="2578608" cy="1069848"/>
          </a:xfrm>
          <a:prstGeom prst="roundRect">
            <a:avLst/>
          </a:prstGeom>
          <a:solidFill>
            <a:srgbClr val="DD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1298448"/>
            <a:ext cx="257860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481328"/>
            <a:ext cx="438912" cy="438912"/>
          </a:xfrm>
          <a:prstGeom prst="ellipse">
            <a:avLst/>
          </a:prstGeom>
          <a:solidFill>
            <a:srgbClr val="E9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148132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9AD6"/>
                </a:solidFill>
                <a:latin typeface="Aptos"/>
              </a:rPr>
              <a:t>02</a:t>
            </a:r>
            <a:endParaRPr sz="1000" b="1">
              <a:solidFill>
                <a:srgbClr val="199AD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60520" y="1453895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7233C"/>
                </a:solidFill>
                <a:latin typeface="Aptos"/>
              </a:rPr>
              <a:t>Backend API</a:t>
            </a:r>
            <a:endParaRPr sz="1200" b="1">
              <a:solidFill>
                <a:srgbClr val="17233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60520" y="1746504"/>
            <a:ext cx="16642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70" b="0">
                <a:solidFill>
                  <a:srgbClr val="71809D"/>
                </a:solidFill>
                <a:latin typeface="Aptos"/>
              </a:rPr>
              <a:t>Python + FastAPI
Xử lý &amp; trả kết quả</a:t>
            </a:r>
            <a:endParaRPr sz="870" b="0">
              <a:solidFill>
                <a:srgbClr val="71809D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44184" y="1636776"/>
            <a:ext cx="155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5BED0"/>
                </a:solidFill>
                <a:latin typeface="Aptos"/>
              </a:rPr>
              <a:t>›</a:t>
            </a:r>
            <a:endParaRPr sz="2000" b="1">
              <a:solidFill>
                <a:srgbClr val="B5BED0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49924" y="1344168"/>
            <a:ext cx="2578608" cy="1069848"/>
          </a:xfrm>
          <a:prstGeom prst="roundRect">
            <a:avLst/>
          </a:prstGeom>
          <a:solidFill>
            <a:srgbClr val="DD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298448"/>
            <a:ext cx="257860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82512" y="1481328"/>
            <a:ext cx="438912" cy="438912"/>
          </a:xfrm>
          <a:prstGeom prst="ellipse">
            <a:avLst/>
          </a:prstGeom>
          <a:solidFill>
            <a:srgbClr val="EA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148132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7A87D"/>
                </a:solidFill>
                <a:latin typeface="Aptos"/>
              </a:rPr>
              <a:t>03</a:t>
            </a:r>
            <a:endParaRPr sz="1000" b="1">
              <a:solidFill>
                <a:srgbClr val="17A87D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40296" y="1453895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7233C"/>
                </a:solidFill>
                <a:latin typeface="Aptos"/>
              </a:rPr>
              <a:t>Frontend Web</a:t>
            </a:r>
            <a:endParaRPr sz="1200" b="1">
              <a:solidFill>
                <a:srgbClr val="17233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40296" y="1746504"/>
            <a:ext cx="16642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70" b="0">
                <a:solidFill>
                  <a:srgbClr val="71809D"/>
                </a:solidFill>
                <a:latin typeface="Aptos"/>
              </a:rPr>
              <a:t>ReactJS
Upload • Search • Chat</a:t>
            </a:r>
            <a:endParaRPr sz="870" b="0">
              <a:solidFill>
                <a:srgbClr val="71809D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23959" y="1636776"/>
            <a:ext cx="155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5BED0"/>
                </a:solidFill>
                <a:latin typeface="Aptos"/>
              </a:rPr>
              <a:t>›</a:t>
            </a:r>
            <a:endParaRPr sz="2000" b="1">
              <a:solidFill>
                <a:srgbClr val="B5BED0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029700" y="1344168"/>
            <a:ext cx="2578608" cy="1069848"/>
          </a:xfrm>
          <a:prstGeom prst="roundRect">
            <a:avLst/>
          </a:prstGeom>
          <a:solidFill>
            <a:srgbClr val="DD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97696" y="1298448"/>
            <a:ext cx="2578608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62288" y="1481328"/>
            <a:ext cx="438912" cy="438912"/>
          </a:xfrm>
          <a:prstGeom prst="ellipse">
            <a:avLst/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62288" y="148132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29A2D"/>
                </a:solidFill>
                <a:latin typeface="Aptos"/>
              </a:rPr>
              <a:t>04</a:t>
            </a:r>
            <a:endParaRPr sz="1000" b="1">
              <a:solidFill>
                <a:srgbClr val="E29A2D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20072" y="1453895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7233C"/>
                </a:solidFill>
                <a:latin typeface="Aptos"/>
              </a:rPr>
              <a:t>Tích hợp</a:t>
            </a:r>
            <a:endParaRPr sz="1200" b="1">
              <a:solidFill>
                <a:srgbClr val="17233C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20072" y="1746504"/>
            <a:ext cx="16642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70" b="0">
                <a:solidFill>
                  <a:srgbClr val="71809D"/>
                </a:solidFill>
                <a:latin typeface="Aptos"/>
              </a:rPr>
              <a:t>Frontend ↔ Backend ↔ AI
Kiểm thử &amp; hoàn thiện</a:t>
            </a:r>
            <a:endParaRPr sz="870" b="0">
              <a:solidFill>
                <a:srgbClr val="71809D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6536B"/>
                </a:solidFill>
                <a:latin typeface="Aptos"/>
              </a:rPr>
              <a:t>GIAO DIỆN HỆ THỐNG</a:t>
            </a:r>
            <a:endParaRPr sz="1100" b="1">
              <a:solidFill>
                <a:srgbClr val="46536B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94944" y="3086100"/>
            <a:ext cx="2578608" cy="2194560"/>
          </a:xfrm>
          <a:prstGeom prst="roundRect">
            <a:avLst/>
          </a:prstGeom>
          <a:solidFill>
            <a:srgbClr val="CC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" y="3035808"/>
            <a:ext cx="2578608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lassif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19" y="3108960"/>
            <a:ext cx="2432303" cy="1426464"/>
          </a:xfrm>
          <a:prstGeom prst="rect">
            <a:avLst/>
          </a:prstGeom>
        </p:spPr>
      </p:pic>
      <p:sp>
        <p:nvSpPr>
          <p:cNvPr id="42" name="Oval 41"/>
          <p:cNvSpPr/>
          <p:nvPr/>
        </p:nvSpPr>
        <p:spPr>
          <a:xfrm>
            <a:off x="822959" y="4663440"/>
            <a:ext cx="109728" cy="109728"/>
          </a:xfrm>
          <a:prstGeom prst="ellipse">
            <a:avLst/>
          </a:prstGeom>
          <a:solidFill>
            <a:srgbClr val="59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59028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334C"/>
                </a:solidFill>
                <a:latin typeface="Aptos"/>
              </a:rPr>
              <a:t>Classification</a:t>
            </a:r>
            <a:endParaRPr sz="1000" b="1">
              <a:solidFill>
                <a:srgbClr val="26334C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5840" y="4846320"/>
            <a:ext cx="19659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8793A8"/>
                </a:solidFill>
                <a:latin typeface="Aptos"/>
              </a:rPr>
              <a:t>Phân loại ảnh</a:t>
            </a:r>
            <a:endParaRPr sz="850" b="0">
              <a:solidFill>
                <a:srgbClr val="8793A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474720" y="3086100"/>
            <a:ext cx="2578608" cy="2194560"/>
          </a:xfrm>
          <a:prstGeom prst="roundRect">
            <a:avLst/>
          </a:prstGeom>
          <a:solidFill>
            <a:srgbClr val="CC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38144" y="3035808"/>
            <a:ext cx="2578608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det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3108960"/>
            <a:ext cx="2432303" cy="1426464"/>
          </a:xfrm>
          <a:prstGeom prst="rect">
            <a:avLst/>
          </a:prstGeom>
        </p:spPr>
      </p:pic>
      <p:sp>
        <p:nvSpPr>
          <p:cNvPr id="48" name="Oval 47"/>
          <p:cNvSpPr/>
          <p:nvPr/>
        </p:nvSpPr>
        <p:spPr>
          <a:xfrm>
            <a:off x="3602736" y="4663440"/>
            <a:ext cx="109728" cy="109728"/>
          </a:xfrm>
          <a:prstGeom prst="ellipse">
            <a:avLst/>
          </a:prstGeom>
          <a:solidFill>
            <a:srgbClr val="199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85615" y="459028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334C"/>
                </a:solidFill>
                <a:latin typeface="Aptos"/>
              </a:rPr>
              <a:t>Object Detection</a:t>
            </a:r>
            <a:endParaRPr sz="1000" b="1">
              <a:solidFill>
                <a:srgbClr val="26334C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785615" y="4846320"/>
            <a:ext cx="19659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8793A8"/>
                </a:solidFill>
                <a:latin typeface="Aptos"/>
              </a:rPr>
              <a:t>Nhận diện đối tượng</a:t>
            </a:r>
            <a:endParaRPr sz="850" b="0">
              <a:solidFill>
                <a:srgbClr val="8793A8"/>
              </a:solidFill>
              <a:latin typeface="Apto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254496" y="3086100"/>
            <a:ext cx="2578608" cy="2194560"/>
          </a:xfrm>
          <a:prstGeom prst="roundRect">
            <a:avLst/>
          </a:prstGeom>
          <a:solidFill>
            <a:srgbClr val="CC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17920" y="3035808"/>
            <a:ext cx="2578608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108960"/>
            <a:ext cx="2432303" cy="1426464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6382512" y="4663440"/>
            <a:ext cx="109728" cy="109728"/>
          </a:xfrm>
          <a:prstGeom prst="ellipse">
            <a:avLst/>
          </a:prstGeom>
          <a:solidFill>
            <a:srgbClr val="17A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5392" y="459028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334C"/>
                </a:solidFill>
                <a:latin typeface="Aptos"/>
              </a:rPr>
              <a:t>Image Retrieval</a:t>
            </a:r>
            <a:endParaRPr sz="1000" b="1">
              <a:solidFill>
                <a:srgbClr val="26334C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65392" y="4846320"/>
            <a:ext cx="19659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8793A8"/>
                </a:solidFill>
                <a:latin typeface="Aptos"/>
              </a:rPr>
              <a:t>Tìm ảnh tương đồng</a:t>
            </a:r>
            <a:endParaRPr sz="850" b="0">
              <a:solidFill>
                <a:srgbClr val="8793A8"/>
              </a:solidFill>
              <a:latin typeface="Aptos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034272" y="3086100"/>
            <a:ext cx="2578608" cy="2194560"/>
          </a:xfrm>
          <a:prstGeom prst="roundRect">
            <a:avLst/>
          </a:prstGeom>
          <a:solidFill>
            <a:srgbClr val="CC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997696" y="3035808"/>
            <a:ext cx="2578608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108960"/>
            <a:ext cx="2432303" cy="1426464"/>
          </a:xfrm>
          <a:prstGeom prst="rect">
            <a:avLst/>
          </a:prstGeom>
        </p:spPr>
      </p:pic>
      <p:sp>
        <p:nvSpPr>
          <p:cNvPr id="60" name="Oval 59"/>
          <p:cNvSpPr/>
          <p:nvPr/>
        </p:nvSpPr>
        <p:spPr>
          <a:xfrm>
            <a:off x="9162288" y="4663440"/>
            <a:ext cx="109728" cy="109728"/>
          </a:xfrm>
          <a:prstGeom prst="ellipse">
            <a:avLst/>
          </a:prstGeom>
          <a:solidFill>
            <a:srgbClr val="E29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5168" y="459028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334C"/>
                </a:solidFill>
                <a:latin typeface="Aptos"/>
              </a:rPr>
              <a:t>RAG Chatbot</a:t>
            </a:r>
            <a:endParaRPr sz="1000" b="1">
              <a:solidFill>
                <a:srgbClr val="26334C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345168" y="4846320"/>
            <a:ext cx="19659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8793A8"/>
                </a:solidFill>
                <a:latin typeface="Aptos"/>
              </a:rPr>
              <a:t>Hỏi đáp dữ liệu</a:t>
            </a:r>
            <a:endParaRPr sz="850" b="0">
              <a:solidFill>
                <a:srgbClr val="8793A8"/>
              </a:solidFill>
              <a:latin typeface="Aptos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58368" y="5650992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" y="5760720"/>
            <a:ext cx="1325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5967E8"/>
                </a:solidFill>
                <a:latin typeface="Aptos"/>
              </a:rPr>
              <a:t>LUỒNG HỆ THỐNG</a:t>
            </a:r>
            <a:endParaRPr sz="850" b="1">
              <a:solidFill>
                <a:srgbClr val="5967E8"/>
              </a:solidFill>
              <a:latin typeface="Apto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2331720" y="5769864"/>
            <a:ext cx="1298448" cy="310896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1720" y="5769864"/>
            <a:ext cx="1298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70" b="1">
                <a:solidFill>
                  <a:srgbClr val="34415B"/>
                </a:solidFill>
                <a:latin typeface="Aptos"/>
              </a:rPr>
              <a:t>Người dùng</a:t>
            </a:r>
            <a:endParaRPr sz="870" b="1">
              <a:solidFill>
                <a:srgbClr val="34415B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639311" y="5769864"/>
            <a:ext cx="1645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9AA6BA"/>
                </a:solidFill>
                <a:latin typeface="Aptos"/>
              </a:rPr>
              <a:t>→</a:t>
            </a:r>
            <a:endParaRPr sz="1000" b="1">
              <a:solidFill>
                <a:srgbClr val="9AA6BA"/>
              </a:solidFill>
              <a:latin typeface="Aptos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3822191" y="5769864"/>
            <a:ext cx="1298448" cy="310896"/>
          </a:xfrm>
          <a:prstGeom prst="roundRect">
            <a:avLst/>
          </a:prstGeom>
          <a:solidFill>
            <a:srgbClr val="EA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22191" y="5769864"/>
            <a:ext cx="1298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70" b="1">
                <a:solidFill>
                  <a:srgbClr val="34415B"/>
                </a:solidFill>
                <a:latin typeface="Aptos"/>
              </a:rPr>
              <a:t>ReactJS</a:t>
            </a:r>
            <a:endParaRPr sz="870" b="1">
              <a:solidFill>
                <a:srgbClr val="34415B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129783" y="5769864"/>
            <a:ext cx="1645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9AA6BA"/>
                </a:solidFill>
                <a:latin typeface="Aptos"/>
              </a:rPr>
              <a:t>→</a:t>
            </a:r>
            <a:endParaRPr sz="1000" b="1">
              <a:solidFill>
                <a:srgbClr val="9AA6BA"/>
              </a:solidFill>
              <a:latin typeface="Aptos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5312664" y="5769864"/>
            <a:ext cx="1298448" cy="310896"/>
          </a:xfrm>
          <a:prstGeom prst="roundRect">
            <a:avLst/>
          </a:prstGeom>
          <a:solidFill>
            <a:srgbClr val="E9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12664" y="5769864"/>
            <a:ext cx="1298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70" b="1">
                <a:solidFill>
                  <a:srgbClr val="34415B"/>
                </a:solidFill>
                <a:latin typeface="Aptos"/>
              </a:rPr>
              <a:t>FastAPI</a:t>
            </a:r>
            <a:endParaRPr sz="870" b="1">
              <a:solidFill>
                <a:srgbClr val="34415B"/>
              </a:solidFill>
              <a:latin typeface="Apto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620255" y="5769864"/>
            <a:ext cx="1645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9AA6BA"/>
                </a:solidFill>
                <a:latin typeface="Aptos"/>
              </a:rPr>
              <a:t>→</a:t>
            </a:r>
            <a:endParaRPr sz="1000" b="1">
              <a:solidFill>
                <a:srgbClr val="9AA6BA"/>
              </a:solidFill>
              <a:latin typeface="Aptos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803136" y="5769864"/>
            <a:ext cx="1298448" cy="310896"/>
          </a:xfrm>
          <a:prstGeom prst="roundRect">
            <a:avLst/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03136" y="5769864"/>
            <a:ext cx="1298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70" b="1">
                <a:solidFill>
                  <a:srgbClr val="34415B"/>
                </a:solidFill>
                <a:latin typeface="Aptos"/>
              </a:rPr>
              <a:t>AI Modules</a:t>
            </a:r>
            <a:endParaRPr sz="870" b="1">
              <a:solidFill>
                <a:srgbClr val="34415B"/>
              </a:solidFill>
              <a:latin typeface="Apto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110728" y="5769864"/>
            <a:ext cx="1645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9AA6BA"/>
                </a:solidFill>
                <a:latin typeface="Aptos"/>
              </a:rPr>
              <a:t>→</a:t>
            </a:r>
            <a:endParaRPr sz="1000" b="1">
              <a:solidFill>
                <a:srgbClr val="9AA6BA"/>
              </a:solidFill>
              <a:latin typeface="Aptos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8293608" y="5769864"/>
            <a:ext cx="1298448" cy="310896"/>
          </a:xfrm>
          <a:prstGeom prst="roundRect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93608" y="5769864"/>
            <a:ext cx="1298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70" b="1">
                <a:solidFill>
                  <a:srgbClr val="34415B"/>
                </a:solidFill>
                <a:latin typeface="Aptos"/>
              </a:rPr>
              <a:t>Kết quả</a:t>
            </a:r>
            <a:endParaRPr sz="870" b="1">
              <a:solidFill>
                <a:srgbClr val="34415B"/>
              </a:solidFill>
              <a:latin typeface="Apto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92440" y="6245352"/>
            <a:ext cx="3429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80" b="1">
                <a:solidFill>
                  <a:srgbClr val="8793A8"/>
                </a:solidFill>
                <a:latin typeface="Aptos"/>
              </a:rPr>
              <a:t>Python  •  FastAPI  •  ReactJS  •  AI/ML  •  RAG</a:t>
            </a:r>
            <a:endParaRPr sz="780" b="1">
              <a:solidFill>
                <a:srgbClr val="8793A8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WPS Presentation</Application>
  <PresentationFormat>On-screen Show (4:3)</PresentationFormat>
  <Paragraphs>76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Vy Thảo</cp:lastModifiedBy>
  <cp:revision>3</cp:revision>
  <dcterms:created xsi:type="dcterms:W3CDTF">2013-01-27T09:14:00Z</dcterms:created>
  <dcterms:modified xsi:type="dcterms:W3CDTF">2026-09-29T09:13:57Z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A1AA040E7BCF4E22AE9E24756AC61C9C_13</vt:lpwstr>
  </property>
  <property fmtid="{D5CDD505-2E9C-101B-9397-08002B2CF9AE}" pid="3" name="KSOProductBuildVer">
    <vt:lpwstr>1066-12.1.0.28485</vt:lpwstr>
  </property>
</Properties>
</file>